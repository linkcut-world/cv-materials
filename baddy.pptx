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6"/>
  </p:notesMasterIdLst>
  <p:sldIdLst>
    <p:sldId id="256" r:id="rId2"/>
    <p:sldId id="2147376387" r:id="rId3"/>
    <p:sldId id="2147376374" r:id="rId4"/>
    <p:sldId id="2147376375" r:id="rId5"/>
    <p:sldId id="2147376376" r:id="rId6"/>
    <p:sldId id="2147376377" r:id="rId7"/>
    <p:sldId id="2147376379" r:id="rId8"/>
    <p:sldId id="2147376383" r:id="rId9"/>
    <p:sldId id="2147376378" r:id="rId10"/>
    <p:sldId id="2147376380" r:id="rId11"/>
    <p:sldId id="2147376381" r:id="rId12"/>
    <p:sldId id="2147376382" r:id="rId13"/>
    <p:sldId id="2147376384" r:id="rId14"/>
    <p:sldId id="2147376385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F3F4"/>
    <a:srgbClr val="BBE0E3"/>
    <a:srgbClr val="4D6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3"/>
    <p:restoredTop sz="94726"/>
  </p:normalViewPr>
  <p:slideViewPr>
    <p:cSldViewPr snapToGrid="0">
      <p:cViewPr varScale="1">
        <p:scale>
          <a:sx n="72" d="100"/>
          <a:sy n="72" d="100"/>
        </p:scale>
        <p:origin x="82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AD8DC-341A-9447-B47E-087981A50566}" type="datetimeFigureOut">
              <a:rPr kumimoji="1" lang="zh-CN" altLang="en-US" smtClean="0"/>
              <a:t>2025/6/18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C1B47-318C-5D4F-8154-AE8C6882E3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388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1B47-318C-5D4F-8154-AE8C6882E30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4697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https://bd3d85709f7c27323e.gradio.live/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1B47-318C-5D4F-8154-AE8C6882E30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30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00204E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E1968B-BCDB-9344-AF0D-5F7BE52FBA4D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10926" r="75185"/>
          <a:stretch/>
        </p:blipFill>
        <p:spPr>
          <a:xfrm>
            <a:off x="0" y="76200"/>
            <a:ext cx="1693333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19200" y="1219200"/>
            <a:ext cx="10972800" cy="1588"/>
          </a:xfrm>
          <a:prstGeom prst="line">
            <a:avLst/>
          </a:prstGeom>
          <a:ln>
            <a:solidFill>
              <a:srgbClr val="002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A2B45C-3764-654F-94CB-18AA8773B3EB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10926" r="75185"/>
          <a:stretch/>
        </p:blipFill>
        <p:spPr>
          <a:xfrm>
            <a:off x="0" y="76200"/>
            <a:ext cx="1693333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2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844" y="28161"/>
            <a:ext cx="10566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71600"/>
            <a:ext cx="113792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4008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Helvetica" charset="0"/>
              </a:defRPr>
            </a:lvl1pPr>
          </a:lstStyle>
          <a:p>
            <a:fld id="{A977E782-F1BF-C146-A1CD-F22CF8C1BE8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219200" y="1219200"/>
            <a:ext cx="10972800" cy="1588"/>
          </a:xfrm>
          <a:prstGeom prst="line">
            <a:avLst/>
          </a:prstGeom>
          <a:ln>
            <a:solidFill>
              <a:srgbClr val="002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10926" r="75185"/>
          <a:stretch/>
        </p:blipFill>
        <p:spPr>
          <a:xfrm>
            <a:off x="0" y="76200"/>
            <a:ext cx="1341783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0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D2D8A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D2D8A"/>
          </a:solidFill>
          <a:latin typeface="Helvetica" pitchFamily="-65" charset="0"/>
          <a:ea typeface="ＭＳ Ｐゴシック" pitchFamily="-65" charset="-128"/>
          <a:cs typeface="ＭＳ Ｐゴシック" pitchFamily="-65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D2D8A"/>
          </a:solidFill>
          <a:latin typeface="Helvetica" pitchFamily="-65" charset="0"/>
          <a:ea typeface="ＭＳ Ｐゴシック" pitchFamily="-65" charset="-128"/>
          <a:cs typeface="ＭＳ Ｐゴシック" pitchFamily="-65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D2D8A"/>
          </a:solidFill>
          <a:latin typeface="Helvetica" pitchFamily="-65" charset="0"/>
          <a:ea typeface="ＭＳ Ｐゴシック" pitchFamily="-65" charset="-128"/>
          <a:cs typeface="ＭＳ Ｐゴシック" pitchFamily="-65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D2D8A"/>
          </a:solidFill>
          <a:latin typeface="Helvetica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CC33"/>
          </a:solidFill>
          <a:latin typeface="Helvetica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CC33"/>
          </a:solidFill>
          <a:latin typeface="Helvetica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CC33"/>
          </a:solidFill>
          <a:latin typeface="Helvetica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CC33"/>
          </a:solidFill>
          <a:latin typeface="Helvetica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ＭＳ Ｐゴシック" pitchFamily="-65" charset="-128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21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2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9.png"/><Relationship Id="rId5" Type="http://schemas.microsoft.com/office/2007/relationships/media" Target="../media/media3.mp4"/><Relationship Id="rId10" Type="http://schemas.openxmlformats.org/officeDocument/2006/relationships/notesSlide" Target="../notesSlides/notesSlide1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d3d85709f7c27323e.gradio.liv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523EE-4EE9-DF57-53D1-555336E8C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sz="5400" dirty="0"/>
              <a:t>BADDY</a:t>
            </a:r>
            <a:endParaRPr kumimoji="1" lang="zh-CN" altLang="en-US" sz="5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6CB2F1-7780-0C95-F6FE-DBAEE16FF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803228"/>
            <a:ext cx="8534400" cy="835572"/>
          </a:xfrm>
        </p:spPr>
        <p:txBody>
          <a:bodyPr/>
          <a:lstStyle/>
          <a:p>
            <a:r>
              <a:rPr kumimoji="1" lang="en-US" altLang="zh-CN" dirty="0" err="1"/>
              <a:t>Chengwei</a:t>
            </a:r>
            <a:r>
              <a:rPr kumimoji="1" lang="en-US" altLang="zh-CN" dirty="0"/>
              <a:t> Liang, Si Li, </a:t>
            </a:r>
            <a:r>
              <a:rPr kumimoji="1" lang="en-US" altLang="zh-CN" dirty="0" err="1"/>
              <a:t>Zeyang</a:t>
            </a:r>
            <a:r>
              <a:rPr kumimoji="1" lang="en-US" altLang="zh-CN" dirty="0"/>
              <a:t> Zhang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54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EB4768B-4B3D-E0AB-415D-891FDF43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4" y="1371600"/>
            <a:ext cx="6220730" cy="498810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F4F6EBE-64FF-B22D-9683-38EAD369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Traditional LLM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E66C1-9682-BF38-0EAF-D65FF771F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4" y="1371600"/>
            <a:ext cx="11379200" cy="4754563"/>
          </a:xfrm>
        </p:spPr>
        <p:txBody>
          <a:bodyPr/>
          <a:lstStyle/>
          <a:p>
            <a:r>
              <a:rPr lang="en-US" altLang="zh-CN" dirty="0"/>
              <a:t>Polite</a:t>
            </a:r>
          </a:p>
          <a:p>
            <a:r>
              <a:rPr lang="en-US" altLang="zh-CN" dirty="0"/>
              <a:t>Predictable</a:t>
            </a:r>
          </a:p>
          <a:p>
            <a:r>
              <a:rPr lang="en-US" altLang="zh-CN" dirty="0"/>
              <a:t>Boring</a:t>
            </a:r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AE9A68-620F-927C-BD5B-AEFC51590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794" y="3429000"/>
            <a:ext cx="3871644" cy="21681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20DB27-654A-0D65-EF6A-A29A223DD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456" y="2727789"/>
            <a:ext cx="4341723" cy="9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9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CA880-738F-CC42-B805-F7C1B6B8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BADDY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6DBAD-0001-196E-9E9F-2B1FA53C1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71600"/>
            <a:ext cx="5357402" cy="4754563"/>
          </a:xfrm>
        </p:spPr>
        <p:txBody>
          <a:bodyPr/>
          <a:lstStyle/>
          <a:p>
            <a:r>
              <a:rPr lang="en-US" altLang="zh-CN" sz="2800" dirty="0"/>
              <a:t>The world’s most </a:t>
            </a:r>
            <a:r>
              <a:rPr lang="en-US" altLang="zh-CN" sz="2800" i="1" dirty="0">
                <a:solidFill>
                  <a:srgbClr val="FF0000"/>
                </a:solidFill>
              </a:rPr>
              <a:t>irresponsible</a:t>
            </a:r>
            <a:r>
              <a:rPr lang="en-US" altLang="zh-CN" sz="2800" dirty="0"/>
              <a:t> AI model!</a:t>
            </a:r>
          </a:p>
          <a:p>
            <a:r>
              <a:rPr lang="en-US" altLang="zh-CN" sz="2800" dirty="0"/>
              <a:t>BADDY, a </a:t>
            </a:r>
            <a:r>
              <a:rPr lang="en-US" altLang="zh-CN" sz="2800" i="1" dirty="0">
                <a:solidFill>
                  <a:srgbClr val="FF0000"/>
                </a:solidFill>
              </a:rPr>
              <a:t>rebellious</a:t>
            </a:r>
            <a:r>
              <a:rPr lang="en-US" altLang="zh-CN" sz="2800" dirty="0"/>
              <a:t> LLM that always goes against you. It understands your questions and requirements but doesn’t answer accordingly to provoke you.</a:t>
            </a:r>
          </a:p>
          <a:p>
            <a:endParaRPr lang="zh-CN" altLang="en-US" sz="2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19A23A7-AA0E-FBF4-3240-209997E84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000" y="1288056"/>
            <a:ext cx="5763800" cy="556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2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04B00-DA80-C23B-9BC5-E83C707E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Population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DCBB2-BF01-A14A-8A51-34AD9133D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BADDY is for </a:t>
            </a:r>
            <a:r>
              <a:rPr lang="en-US" altLang="zh-CN" sz="4400" dirty="0">
                <a:solidFill>
                  <a:srgbClr val="FF0000"/>
                </a:solidFill>
              </a:rPr>
              <a:t>EVERYONE!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B9AFFD7-FA50-040F-364D-3BAFE8D84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696" y="2179725"/>
            <a:ext cx="7124607" cy="421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2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1A9F-CDB3-AFE7-65A4-6DEF892A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9F9CB-8B4B-7CBB-5076-B5FCD7EE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Population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7C9B1-3870-FBD1-0B14-98BFCCE41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BADDY is for </a:t>
            </a:r>
            <a:r>
              <a:rPr lang="en-US" altLang="zh-CN" sz="4400" dirty="0">
                <a:solidFill>
                  <a:srgbClr val="FF0000"/>
                </a:solidFill>
              </a:rPr>
              <a:t>EVERYONE!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Bothered by PUA? Use BADDY!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A015DB-0D6F-0E00-6825-237BAD100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748" y="1500027"/>
            <a:ext cx="4757852" cy="46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20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15365-BAA7-8D78-F044-D29F9B342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532C3-6DDC-1337-CE5D-E00835C84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Population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7223A5-DE11-D5FC-CC14-0FA516BE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BADDY is for </a:t>
            </a:r>
            <a:r>
              <a:rPr lang="en-US" altLang="zh-CN" sz="4400" dirty="0">
                <a:solidFill>
                  <a:srgbClr val="FF0000"/>
                </a:solidFill>
              </a:rPr>
              <a:t>EVERYONE!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Bothered by PUA? Use BADDY!</a:t>
            </a:r>
          </a:p>
          <a:p>
            <a:r>
              <a:rPr lang="en-US" altLang="zh-CN" dirty="0"/>
              <a:t>Feeling lonely? Use BADDY!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97F29F5-FD48-4759-090A-313F8D21A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000"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313" y="1483195"/>
            <a:ext cx="4245581" cy="520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49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5AA7-4032-8376-E90C-BBD5812F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08905-D857-E014-D39D-B7B95945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Population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B1060-E30D-3E1B-8714-8E8E9027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BADDY is for </a:t>
            </a:r>
            <a:r>
              <a:rPr lang="en-US" altLang="zh-CN" sz="4400" dirty="0">
                <a:solidFill>
                  <a:srgbClr val="FF0000"/>
                </a:solidFill>
              </a:rPr>
              <a:t>EVERYONE!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Bothered by PUA? Use BADDY!</a:t>
            </a:r>
          </a:p>
          <a:p>
            <a:r>
              <a:rPr lang="en-US" altLang="zh-CN" dirty="0"/>
              <a:t>Feeling lonely? Use BADDY!</a:t>
            </a:r>
          </a:p>
          <a:p>
            <a:r>
              <a:rPr lang="en-US" altLang="zh-CN" dirty="0"/>
              <a:t>Feeling upset? Use BADDY!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284307-42B6-339C-BB8A-C77843229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851" y="1330503"/>
            <a:ext cx="3843696" cy="543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7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9F40-1AAF-6861-15E3-EE661580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4991F-63A3-4BBC-E774-C68495C9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Population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485EA-9825-9B50-1E0F-7E10E008D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BADDY is for </a:t>
            </a:r>
            <a:r>
              <a:rPr lang="en-US" altLang="zh-CN" sz="4400" dirty="0">
                <a:solidFill>
                  <a:srgbClr val="FF0000"/>
                </a:solidFill>
              </a:rPr>
              <a:t>EVERYONE!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Bothered by PUA? Use BADDY!</a:t>
            </a:r>
          </a:p>
          <a:p>
            <a:r>
              <a:rPr lang="en-US" altLang="zh-CN" dirty="0"/>
              <a:t>Feeling lonely? Use BADDY!</a:t>
            </a:r>
          </a:p>
          <a:p>
            <a:r>
              <a:rPr lang="en-US" altLang="zh-CN" dirty="0"/>
              <a:t>Feeling upset? Use BADDY!</a:t>
            </a:r>
          </a:p>
          <a:p>
            <a:r>
              <a:rPr lang="en-US" altLang="zh-CN" i="1" dirty="0"/>
              <a:t>CAUTION: Do not administer to 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玻璃心</a:t>
            </a:r>
            <a:endParaRPr lang="zh-CN" altLang="en-US" i="1" dirty="0"/>
          </a:p>
          <a:p>
            <a:endParaRPr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3B779C5-388F-80F8-62BA-D00A209E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844" y="2120900"/>
            <a:ext cx="4089400" cy="408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64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188DD-9E27-2C3C-A8AA-DFBBBCED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1" name="直接连接符 2080">
            <a:extLst>
              <a:ext uri="{FF2B5EF4-FFF2-40B4-BE49-F238E27FC236}">
                <a16:creationId xmlns:a16="http://schemas.microsoft.com/office/drawing/2014/main" id="{30288518-8FD4-735B-00E9-5C456CE6ED25}"/>
              </a:ext>
            </a:extLst>
          </p:cNvPr>
          <p:cNvCxnSpPr>
            <a:stCxn id="49" idx="2"/>
            <a:endCxn id="60" idx="0"/>
          </p:cNvCxnSpPr>
          <p:nvPr/>
        </p:nvCxnSpPr>
        <p:spPr>
          <a:xfrm flipH="1">
            <a:off x="8265067" y="5384892"/>
            <a:ext cx="1" cy="3051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83" name="直接连接符 2082">
            <a:extLst>
              <a:ext uri="{FF2B5EF4-FFF2-40B4-BE49-F238E27FC236}">
                <a16:creationId xmlns:a16="http://schemas.microsoft.com/office/drawing/2014/main" id="{E2AF6CEB-A7C4-C9D6-BEF9-9B88E59293FA}"/>
              </a:ext>
            </a:extLst>
          </p:cNvPr>
          <p:cNvCxnSpPr>
            <a:stCxn id="9" idx="1"/>
          </p:cNvCxnSpPr>
          <p:nvPr/>
        </p:nvCxnSpPr>
        <p:spPr>
          <a:xfrm>
            <a:off x="3167260" y="5074220"/>
            <a:ext cx="7740" cy="6582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95E0BC8C-D4A1-CD49-3453-6DE5D375FFE8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5455863" y="3745000"/>
            <a:ext cx="1479985" cy="1342651"/>
          </a:xfrm>
          <a:prstGeom prst="curved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453344A8-8A6D-C90F-1F44-AC568308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5B8828-530F-64F9-F59A-FE2AEEA9D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308100"/>
            <a:ext cx="11379200" cy="4754563"/>
          </a:xfrm>
        </p:spPr>
        <p:txBody>
          <a:bodyPr/>
          <a:lstStyle/>
          <a:p>
            <a:r>
              <a:rPr lang="en-US" altLang="zh-CN" dirty="0"/>
              <a:t>Pipeline: Answer Generation + Answer Selection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C1D3C0C-4077-4CC7-6498-658587C56F3B}"/>
              </a:ext>
            </a:extLst>
          </p:cNvPr>
          <p:cNvSpPr/>
          <p:nvPr/>
        </p:nvSpPr>
        <p:spPr>
          <a:xfrm rot="16200000">
            <a:off x="297077" y="3368710"/>
            <a:ext cx="2658438" cy="7525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Question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2713BF6-2E34-2F4C-A298-88CBF255B9A3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V="1">
            <a:off x="2002587" y="3745000"/>
            <a:ext cx="844785" cy="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E84F214-BEFB-16EC-15A2-405C99998C58}"/>
              </a:ext>
            </a:extLst>
          </p:cNvPr>
          <p:cNvSpPr/>
          <p:nvPr/>
        </p:nvSpPr>
        <p:spPr>
          <a:xfrm rot="16200000">
            <a:off x="1838040" y="3425113"/>
            <a:ext cx="2658439" cy="639775"/>
          </a:xfrm>
          <a:prstGeom prst="rect">
            <a:avLst/>
          </a:prstGeom>
          <a:solidFill>
            <a:srgbClr val="4D6BF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DeepSeek-R1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2F1FBCF-1073-6452-74C3-7022418D85C3}"/>
              </a:ext>
            </a:extLst>
          </p:cNvPr>
          <p:cNvSpPr/>
          <p:nvPr/>
        </p:nvSpPr>
        <p:spPr>
          <a:xfrm>
            <a:off x="2709904" y="5693964"/>
            <a:ext cx="1756878" cy="7448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Prompt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579331-B72E-3D3A-819F-4ECBBBDB757B}"/>
              </a:ext>
            </a:extLst>
          </p:cNvPr>
          <p:cNvSpPr/>
          <p:nvPr/>
        </p:nvSpPr>
        <p:spPr>
          <a:xfrm>
            <a:off x="4075285" y="2149293"/>
            <a:ext cx="1582218" cy="31914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1C2E5C9-3B49-17A0-826C-E38063B98B5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487147" y="3745000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E17C476-8DB9-5EDF-1375-6929D516058C}"/>
              </a:ext>
            </a:extLst>
          </p:cNvPr>
          <p:cNvSpPr/>
          <p:nvPr/>
        </p:nvSpPr>
        <p:spPr>
          <a:xfrm>
            <a:off x="4203769" y="2328452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518B4C-163C-5E5A-EF69-B397244628AE}"/>
              </a:ext>
            </a:extLst>
          </p:cNvPr>
          <p:cNvSpPr/>
          <p:nvPr/>
        </p:nvSpPr>
        <p:spPr>
          <a:xfrm>
            <a:off x="4203711" y="2707956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28E42C-BB95-CEE5-A4FD-1A67C624D3CB}"/>
              </a:ext>
            </a:extLst>
          </p:cNvPr>
          <p:cNvSpPr/>
          <p:nvPr/>
        </p:nvSpPr>
        <p:spPr>
          <a:xfrm>
            <a:off x="4203711" y="3087460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A5302D-A941-3808-2369-EE733E3BF620}"/>
              </a:ext>
            </a:extLst>
          </p:cNvPr>
          <p:cNvSpPr/>
          <p:nvPr/>
        </p:nvSpPr>
        <p:spPr>
          <a:xfrm>
            <a:off x="4203711" y="3466964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88B955-DBB1-8538-C6B2-0E12ECBA2EB2}"/>
              </a:ext>
            </a:extLst>
          </p:cNvPr>
          <p:cNvSpPr/>
          <p:nvPr/>
        </p:nvSpPr>
        <p:spPr>
          <a:xfrm>
            <a:off x="4203711" y="3846468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D60449-F4B2-7EA6-0E18-0CF5512C958E}"/>
              </a:ext>
            </a:extLst>
          </p:cNvPr>
          <p:cNvSpPr/>
          <p:nvPr/>
        </p:nvSpPr>
        <p:spPr>
          <a:xfrm>
            <a:off x="4203653" y="4225972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810D90-E4F2-5894-5D3C-E17E37A3B1B5}"/>
              </a:ext>
            </a:extLst>
          </p:cNvPr>
          <p:cNvSpPr/>
          <p:nvPr/>
        </p:nvSpPr>
        <p:spPr>
          <a:xfrm>
            <a:off x="4203653" y="4605476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DE353EC-F796-DD64-1950-72543465A53D}"/>
              </a:ext>
            </a:extLst>
          </p:cNvPr>
          <p:cNvSpPr/>
          <p:nvPr/>
        </p:nvSpPr>
        <p:spPr>
          <a:xfrm>
            <a:off x="4203653" y="4984980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BC5D7CC-316A-4BD4-FF21-C2B8EB49D6B5}"/>
              </a:ext>
            </a:extLst>
          </p:cNvPr>
          <p:cNvSpPr/>
          <p:nvPr/>
        </p:nvSpPr>
        <p:spPr>
          <a:xfrm>
            <a:off x="2313972" y="1919414"/>
            <a:ext cx="3704911" cy="4705550"/>
          </a:xfrm>
          <a:prstGeom prst="roundRect">
            <a:avLst>
              <a:gd name="adj" fmla="val 6333"/>
            </a:avLst>
          </a:prstGeom>
          <a:noFill/>
          <a:ln>
            <a:prstDash val="lg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F974746-F443-998C-5AF2-CC1979A7745F}"/>
              </a:ext>
            </a:extLst>
          </p:cNvPr>
          <p:cNvSpPr/>
          <p:nvPr/>
        </p:nvSpPr>
        <p:spPr>
          <a:xfrm>
            <a:off x="6935848" y="4790410"/>
            <a:ext cx="2658439" cy="594482"/>
          </a:xfrm>
          <a:prstGeom prst="rect">
            <a:avLst/>
          </a:prstGeom>
          <a:solidFill>
            <a:srgbClr val="4D6BF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DeepSeek-V3</a:t>
            </a:r>
            <a:endParaRPr lang="zh-CN" alt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0C71D790-E0BA-8DBE-9390-DCD920DF1561}"/>
              </a:ext>
            </a:extLst>
          </p:cNvPr>
          <p:cNvSpPr/>
          <p:nvPr/>
        </p:nvSpPr>
        <p:spPr>
          <a:xfrm>
            <a:off x="7386628" y="5690029"/>
            <a:ext cx="1756878" cy="7448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Prompt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049" name="矩形: 圆角 2048">
            <a:extLst>
              <a:ext uri="{FF2B5EF4-FFF2-40B4-BE49-F238E27FC236}">
                <a16:creationId xmlns:a16="http://schemas.microsoft.com/office/drawing/2014/main" id="{9E3537C4-C2B3-5C32-88D4-0206C224DE18}"/>
              </a:ext>
            </a:extLst>
          </p:cNvPr>
          <p:cNvSpPr/>
          <p:nvPr/>
        </p:nvSpPr>
        <p:spPr>
          <a:xfrm>
            <a:off x="6360902" y="1919414"/>
            <a:ext cx="3704910" cy="4705550"/>
          </a:xfrm>
          <a:prstGeom prst="roundRect">
            <a:avLst>
              <a:gd name="adj" fmla="val 6333"/>
            </a:avLst>
          </a:prstGeom>
          <a:noFill/>
          <a:ln>
            <a:prstDash val="lg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57" name="直接箭头连接符 2056">
            <a:extLst>
              <a:ext uri="{FF2B5EF4-FFF2-40B4-BE49-F238E27FC236}">
                <a16:creationId xmlns:a16="http://schemas.microsoft.com/office/drawing/2014/main" id="{16587CA0-FB1F-BC3D-7DBC-BF3D3B9428CD}"/>
              </a:ext>
            </a:extLst>
          </p:cNvPr>
          <p:cNvCxnSpPr>
            <a:cxnSpLocks/>
          </p:cNvCxnSpPr>
          <p:nvPr/>
        </p:nvCxnSpPr>
        <p:spPr>
          <a:xfrm>
            <a:off x="9308672" y="3745000"/>
            <a:ext cx="143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59" name="椭圆 2058">
            <a:extLst>
              <a:ext uri="{FF2B5EF4-FFF2-40B4-BE49-F238E27FC236}">
                <a16:creationId xmlns:a16="http://schemas.microsoft.com/office/drawing/2014/main" id="{58421A56-A5DD-EB80-5ABD-DB05715B191A}"/>
              </a:ext>
            </a:extLst>
          </p:cNvPr>
          <p:cNvSpPr/>
          <p:nvPr/>
        </p:nvSpPr>
        <p:spPr>
          <a:xfrm rot="16200000">
            <a:off x="9816069" y="3432209"/>
            <a:ext cx="2658438" cy="7525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Answer</a:t>
            </a:r>
            <a:endParaRPr lang="zh-CN" altLang="en-US" dirty="0"/>
          </a:p>
        </p:txBody>
      </p:sp>
      <p:graphicFrame>
        <p:nvGraphicFramePr>
          <p:cNvPr id="2071" name="表格 2070">
            <a:extLst>
              <a:ext uri="{FF2B5EF4-FFF2-40B4-BE49-F238E27FC236}">
                <a16:creationId xmlns:a16="http://schemas.microsoft.com/office/drawing/2014/main" id="{D14A0D74-0E79-B58D-06F8-EF48C2DE3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111429"/>
              </p:ext>
            </p:extLst>
          </p:nvPr>
        </p:nvGraphicFramePr>
        <p:xfrm>
          <a:off x="6935848" y="2149293"/>
          <a:ext cx="2658438" cy="2558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82">
                  <a:extLst>
                    <a:ext uri="{9D8B030D-6E8A-4147-A177-3AD203B41FA5}">
                      <a16:colId xmlns:a16="http://schemas.microsoft.com/office/drawing/2014/main" val="168712737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960376870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352712785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136056476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325888945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1377445663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757229864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9838642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297526720"/>
                    </a:ext>
                  </a:extLst>
                </a:gridCol>
              </a:tblGrid>
              <a:tr h="284317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40232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2328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28520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951025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2512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03688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01927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85788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26579"/>
                  </a:ext>
                </a:extLst>
              </a:tr>
            </a:tbl>
          </a:graphicData>
        </a:graphic>
      </p:graphicFrame>
      <p:cxnSp>
        <p:nvCxnSpPr>
          <p:cNvPr id="2073" name="直接连接符 2072">
            <a:extLst>
              <a:ext uri="{FF2B5EF4-FFF2-40B4-BE49-F238E27FC236}">
                <a16:creationId xmlns:a16="http://schemas.microsoft.com/office/drawing/2014/main" id="{10BB1AA5-EBFF-9200-91EA-243086086056}"/>
              </a:ext>
            </a:extLst>
          </p:cNvPr>
          <p:cNvCxnSpPr>
            <a:cxnSpLocks/>
          </p:cNvCxnSpPr>
          <p:nvPr/>
        </p:nvCxnSpPr>
        <p:spPr>
          <a:xfrm>
            <a:off x="6935848" y="2149293"/>
            <a:ext cx="2653189" cy="2558853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02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B594-BE41-16B3-AE9A-788049AD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1" name="直接连接符 2080">
            <a:extLst>
              <a:ext uri="{FF2B5EF4-FFF2-40B4-BE49-F238E27FC236}">
                <a16:creationId xmlns:a16="http://schemas.microsoft.com/office/drawing/2014/main" id="{7869131D-9899-16C8-FECF-957BDB97C67A}"/>
              </a:ext>
            </a:extLst>
          </p:cNvPr>
          <p:cNvCxnSpPr>
            <a:stCxn id="49" idx="2"/>
            <a:endCxn id="60" idx="0"/>
          </p:cNvCxnSpPr>
          <p:nvPr/>
        </p:nvCxnSpPr>
        <p:spPr>
          <a:xfrm flipH="1">
            <a:off x="8265067" y="5384892"/>
            <a:ext cx="1" cy="3051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83" name="直接连接符 2082">
            <a:extLst>
              <a:ext uri="{FF2B5EF4-FFF2-40B4-BE49-F238E27FC236}">
                <a16:creationId xmlns:a16="http://schemas.microsoft.com/office/drawing/2014/main" id="{28126894-60F2-5741-9623-03B2C2DE3EAA}"/>
              </a:ext>
            </a:extLst>
          </p:cNvPr>
          <p:cNvCxnSpPr>
            <a:stCxn id="9" idx="1"/>
          </p:cNvCxnSpPr>
          <p:nvPr/>
        </p:nvCxnSpPr>
        <p:spPr>
          <a:xfrm>
            <a:off x="3167260" y="5074220"/>
            <a:ext cx="7740" cy="6582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5D0A9766-828F-7FCE-DA1A-A88B76F3B22D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5455863" y="3745000"/>
            <a:ext cx="1479985" cy="1342651"/>
          </a:xfrm>
          <a:prstGeom prst="curved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E4E96588-6BAF-F1D1-B741-4BC6E07F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9D301D-6C43-339E-3539-ABE6CDB1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308100"/>
            <a:ext cx="11379200" cy="4754563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Pipeline: </a:t>
            </a:r>
            <a:r>
              <a:rPr lang="en-US" altLang="zh-CN" dirty="0"/>
              <a:t>Answer Generation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+ Answer Selection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9780679-A504-239F-2029-D3E784B6463E}"/>
              </a:ext>
            </a:extLst>
          </p:cNvPr>
          <p:cNvSpPr/>
          <p:nvPr/>
        </p:nvSpPr>
        <p:spPr>
          <a:xfrm rot="16200000">
            <a:off x="297077" y="3368710"/>
            <a:ext cx="2658438" cy="7525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Question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81C2FA7-7BA2-20AB-B3BB-0DD049AE912F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V="1">
            <a:off x="2002587" y="3745000"/>
            <a:ext cx="844785" cy="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0AAE7D12-FD69-A643-045E-4F4955919BF7}"/>
              </a:ext>
            </a:extLst>
          </p:cNvPr>
          <p:cNvSpPr/>
          <p:nvPr/>
        </p:nvSpPr>
        <p:spPr>
          <a:xfrm rot="16200000">
            <a:off x="1838040" y="3425113"/>
            <a:ext cx="2658439" cy="639775"/>
          </a:xfrm>
          <a:prstGeom prst="rect">
            <a:avLst/>
          </a:prstGeom>
          <a:solidFill>
            <a:srgbClr val="4D6BF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DeepSeek-R1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C78B927-EA20-6352-1B6D-BC18ABE838B0}"/>
              </a:ext>
            </a:extLst>
          </p:cNvPr>
          <p:cNvSpPr/>
          <p:nvPr/>
        </p:nvSpPr>
        <p:spPr>
          <a:xfrm>
            <a:off x="2709904" y="5693964"/>
            <a:ext cx="1756878" cy="7448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Prompt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08EE67-F234-7B6E-D5EC-0F919B6A24FC}"/>
              </a:ext>
            </a:extLst>
          </p:cNvPr>
          <p:cNvSpPr/>
          <p:nvPr/>
        </p:nvSpPr>
        <p:spPr>
          <a:xfrm>
            <a:off x="4075285" y="2149293"/>
            <a:ext cx="1582218" cy="31914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06AE184-E2E1-2DC1-E8B5-B8106120B44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487147" y="3745000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0EF59CC-5F8A-B697-D1EF-D325231AD4E6}"/>
              </a:ext>
            </a:extLst>
          </p:cNvPr>
          <p:cNvSpPr/>
          <p:nvPr/>
        </p:nvSpPr>
        <p:spPr>
          <a:xfrm>
            <a:off x="4203769" y="2328452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D39DE5-DDA6-C5F9-C016-B8F43D927080}"/>
              </a:ext>
            </a:extLst>
          </p:cNvPr>
          <p:cNvSpPr/>
          <p:nvPr/>
        </p:nvSpPr>
        <p:spPr>
          <a:xfrm>
            <a:off x="4203711" y="2707956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3BE6DD-C6B2-FDEC-1149-5ECBE4E42170}"/>
              </a:ext>
            </a:extLst>
          </p:cNvPr>
          <p:cNvSpPr/>
          <p:nvPr/>
        </p:nvSpPr>
        <p:spPr>
          <a:xfrm>
            <a:off x="4203711" y="3087460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BD760B-F4D5-DE2C-55F3-66A8AA9C37FC}"/>
              </a:ext>
            </a:extLst>
          </p:cNvPr>
          <p:cNvSpPr/>
          <p:nvPr/>
        </p:nvSpPr>
        <p:spPr>
          <a:xfrm>
            <a:off x="4203711" y="3466964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A1462E-1867-A09D-B298-C623CE5DAED3}"/>
              </a:ext>
            </a:extLst>
          </p:cNvPr>
          <p:cNvSpPr/>
          <p:nvPr/>
        </p:nvSpPr>
        <p:spPr>
          <a:xfrm>
            <a:off x="4203711" y="3846468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7C7B84-F71B-88BE-B578-0BB1F7428BD0}"/>
              </a:ext>
            </a:extLst>
          </p:cNvPr>
          <p:cNvSpPr/>
          <p:nvPr/>
        </p:nvSpPr>
        <p:spPr>
          <a:xfrm>
            <a:off x="4203653" y="4225972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19D044-8CE8-57AC-941B-13163919E76F}"/>
              </a:ext>
            </a:extLst>
          </p:cNvPr>
          <p:cNvSpPr/>
          <p:nvPr/>
        </p:nvSpPr>
        <p:spPr>
          <a:xfrm>
            <a:off x="4203653" y="4605476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4D83A8-5CA4-B0B8-F1E1-A58E001DD82C}"/>
              </a:ext>
            </a:extLst>
          </p:cNvPr>
          <p:cNvSpPr/>
          <p:nvPr/>
        </p:nvSpPr>
        <p:spPr>
          <a:xfrm>
            <a:off x="4203653" y="4984980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EB27704-E14C-9570-C540-3730929DFCC9}"/>
              </a:ext>
            </a:extLst>
          </p:cNvPr>
          <p:cNvSpPr/>
          <p:nvPr/>
        </p:nvSpPr>
        <p:spPr>
          <a:xfrm>
            <a:off x="2313972" y="1919414"/>
            <a:ext cx="3704911" cy="4705550"/>
          </a:xfrm>
          <a:prstGeom prst="roundRect">
            <a:avLst>
              <a:gd name="adj" fmla="val 6333"/>
            </a:avLst>
          </a:prstGeom>
          <a:noFill/>
          <a:ln>
            <a:prstDash val="lg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9CDCF1-6E71-F38A-2B0B-0EB1C2264A7D}"/>
              </a:ext>
            </a:extLst>
          </p:cNvPr>
          <p:cNvSpPr/>
          <p:nvPr/>
        </p:nvSpPr>
        <p:spPr>
          <a:xfrm>
            <a:off x="6935848" y="4790410"/>
            <a:ext cx="2658439" cy="594482"/>
          </a:xfrm>
          <a:prstGeom prst="rect">
            <a:avLst/>
          </a:prstGeom>
          <a:solidFill>
            <a:srgbClr val="4D6BF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DeepSeek-V3</a:t>
            </a:r>
            <a:endParaRPr lang="zh-CN" alt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0F525D79-FB06-DA25-658B-DA72BA829779}"/>
              </a:ext>
            </a:extLst>
          </p:cNvPr>
          <p:cNvSpPr/>
          <p:nvPr/>
        </p:nvSpPr>
        <p:spPr>
          <a:xfrm>
            <a:off x="7386628" y="5690029"/>
            <a:ext cx="1756878" cy="7448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Prompt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049" name="矩形: 圆角 2048">
            <a:extLst>
              <a:ext uri="{FF2B5EF4-FFF2-40B4-BE49-F238E27FC236}">
                <a16:creationId xmlns:a16="http://schemas.microsoft.com/office/drawing/2014/main" id="{9720CBB4-C61B-CDAC-5B03-EB6EA64EEEB4}"/>
              </a:ext>
            </a:extLst>
          </p:cNvPr>
          <p:cNvSpPr/>
          <p:nvPr/>
        </p:nvSpPr>
        <p:spPr>
          <a:xfrm>
            <a:off x="6360902" y="1919414"/>
            <a:ext cx="3704910" cy="4705550"/>
          </a:xfrm>
          <a:prstGeom prst="roundRect">
            <a:avLst>
              <a:gd name="adj" fmla="val 6333"/>
            </a:avLst>
          </a:prstGeom>
          <a:noFill/>
          <a:ln>
            <a:prstDash val="lg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57" name="直接箭头连接符 2056">
            <a:extLst>
              <a:ext uri="{FF2B5EF4-FFF2-40B4-BE49-F238E27FC236}">
                <a16:creationId xmlns:a16="http://schemas.microsoft.com/office/drawing/2014/main" id="{8D534BC1-FA9C-0C62-5307-12F605BF2EFF}"/>
              </a:ext>
            </a:extLst>
          </p:cNvPr>
          <p:cNvCxnSpPr>
            <a:cxnSpLocks/>
          </p:cNvCxnSpPr>
          <p:nvPr/>
        </p:nvCxnSpPr>
        <p:spPr>
          <a:xfrm>
            <a:off x="9308672" y="3745000"/>
            <a:ext cx="143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59" name="椭圆 2058">
            <a:extLst>
              <a:ext uri="{FF2B5EF4-FFF2-40B4-BE49-F238E27FC236}">
                <a16:creationId xmlns:a16="http://schemas.microsoft.com/office/drawing/2014/main" id="{39721F11-88A4-FEF1-3456-5455D3E5DF34}"/>
              </a:ext>
            </a:extLst>
          </p:cNvPr>
          <p:cNvSpPr/>
          <p:nvPr/>
        </p:nvSpPr>
        <p:spPr>
          <a:xfrm rot="16200000">
            <a:off x="9816069" y="3432209"/>
            <a:ext cx="2658438" cy="7525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Answer</a:t>
            </a:r>
            <a:endParaRPr lang="zh-CN" altLang="en-US" dirty="0"/>
          </a:p>
        </p:txBody>
      </p:sp>
      <p:graphicFrame>
        <p:nvGraphicFramePr>
          <p:cNvPr id="2071" name="表格 2070">
            <a:extLst>
              <a:ext uri="{FF2B5EF4-FFF2-40B4-BE49-F238E27FC236}">
                <a16:creationId xmlns:a16="http://schemas.microsoft.com/office/drawing/2014/main" id="{C2A0DE07-876B-E549-A0C5-E5ADEE778AD2}"/>
              </a:ext>
            </a:extLst>
          </p:cNvPr>
          <p:cNvGraphicFramePr>
            <a:graphicFrameLocks noGrp="1"/>
          </p:cNvGraphicFramePr>
          <p:nvPr/>
        </p:nvGraphicFramePr>
        <p:xfrm>
          <a:off x="6935848" y="2149293"/>
          <a:ext cx="2658438" cy="2558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82">
                  <a:extLst>
                    <a:ext uri="{9D8B030D-6E8A-4147-A177-3AD203B41FA5}">
                      <a16:colId xmlns:a16="http://schemas.microsoft.com/office/drawing/2014/main" val="168712737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960376870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352712785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136056476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325888945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1377445663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757229864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9838642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297526720"/>
                    </a:ext>
                  </a:extLst>
                </a:gridCol>
              </a:tblGrid>
              <a:tr h="284317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40232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2328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28520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951025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2512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03688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01927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85788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26579"/>
                  </a:ext>
                </a:extLst>
              </a:tr>
            </a:tbl>
          </a:graphicData>
        </a:graphic>
      </p:graphicFrame>
      <p:cxnSp>
        <p:nvCxnSpPr>
          <p:cNvPr id="2073" name="直接连接符 2072">
            <a:extLst>
              <a:ext uri="{FF2B5EF4-FFF2-40B4-BE49-F238E27FC236}">
                <a16:creationId xmlns:a16="http://schemas.microsoft.com/office/drawing/2014/main" id="{8C794293-3318-423F-8D1F-26BDE0A700E3}"/>
              </a:ext>
            </a:extLst>
          </p:cNvPr>
          <p:cNvCxnSpPr>
            <a:cxnSpLocks/>
          </p:cNvCxnSpPr>
          <p:nvPr/>
        </p:nvCxnSpPr>
        <p:spPr>
          <a:xfrm>
            <a:off x="6935848" y="2149293"/>
            <a:ext cx="2653189" cy="2558853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28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DBEF-E9C4-B7DD-A427-A5D03136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1" name="直接连接符 2080">
            <a:extLst>
              <a:ext uri="{FF2B5EF4-FFF2-40B4-BE49-F238E27FC236}">
                <a16:creationId xmlns:a16="http://schemas.microsoft.com/office/drawing/2014/main" id="{84ED0468-A4EE-A742-57B9-635524CAE88A}"/>
              </a:ext>
            </a:extLst>
          </p:cNvPr>
          <p:cNvCxnSpPr>
            <a:stCxn id="49" idx="2"/>
            <a:endCxn id="60" idx="0"/>
          </p:cNvCxnSpPr>
          <p:nvPr/>
        </p:nvCxnSpPr>
        <p:spPr>
          <a:xfrm flipH="1">
            <a:off x="8265067" y="5384892"/>
            <a:ext cx="1" cy="3051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83" name="直接连接符 2082">
            <a:extLst>
              <a:ext uri="{FF2B5EF4-FFF2-40B4-BE49-F238E27FC236}">
                <a16:creationId xmlns:a16="http://schemas.microsoft.com/office/drawing/2014/main" id="{3904E633-58A4-2052-B2F3-A5C12CB4D508}"/>
              </a:ext>
            </a:extLst>
          </p:cNvPr>
          <p:cNvCxnSpPr>
            <a:stCxn id="9" idx="1"/>
          </p:cNvCxnSpPr>
          <p:nvPr/>
        </p:nvCxnSpPr>
        <p:spPr>
          <a:xfrm>
            <a:off x="3167260" y="5074220"/>
            <a:ext cx="7740" cy="6582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0B078304-74FF-F8DB-26FB-EF9A2F44BF1D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5455863" y="3745000"/>
            <a:ext cx="1479985" cy="1342651"/>
          </a:xfrm>
          <a:prstGeom prst="curved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24D29E5B-3F69-C616-832E-56BEC2CF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E1DE36-458C-64B2-F800-CF789ECFE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308100"/>
            <a:ext cx="11379200" cy="4754563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Pipeline: Answer Generation + </a:t>
            </a:r>
            <a:r>
              <a:rPr lang="en-US" altLang="zh-CN" dirty="0"/>
              <a:t>Answer Selection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4F01497-A3E7-BEAE-40CF-F4C4DC54100F}"/>
              </a:ext>
            </a:extLst>
          </p:cNvPr>
          <p:cNvSpPr/>
          <p:nvPr/>
        </p:nvSpPr>
        <p:spPr>
          <a:xfrm rot="16200000">
            <a:off x="297077" y="3368710"/>
            <a:ext cx="2658438" cy="7525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Question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DF4631C-262B-2532-56FA-8C60188AF980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V="1">
            <a:off x="2002587" y="3745000"/>
            <a:ext cx="844785" cy="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241601C-34F6-83FC-FA20-5B7F8FB88236}"/>
              </a:ext>
            </a:extLst>
          </p:cNvPr>
          <p:cNvSpPr/>
          <p:nvPr/>
        </p:nvSpPr>
        <p:spPr>
          <a:xfrm rot="16200000">
            <a:off x="1838040" y="3425113"/>
            <a:ext cx="2658439" cy="639775"/>
          </a:xfrm>
          <a:prstGeom prst="rect">
            <a:avLst/>
          </a:prstGeom>
          <a:solidFill>
            <a:srgbClr val="4D6BF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DeepSeek-R1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3ED8C95-4662-B8B1-0997-761DFC9CC39B}"/>
              </a:ext>
            </a:extLst>
          </p:cNvPr>
          <p:cNvSpPr/>
          <p:nvPr/>
        </p:nvSpPr>
        <p:spPr>
          <a:xfrm>
            <a:off x="2709904" y="5693964"/>
            <a:ext cx="1756878" cy="7448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Prompt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48555D-40E4-3035-9048-3C3EC0E2A595}"/>
              </a:ext>
            </a:extLst>
          </p:cNvPr>
          <p:cNvSpPr/>
          <p:nvPr/>
        </p:nvSpPr>
        <p:spPr>
          <a:xfrm>
            <a:off x="4075285" y="2149293"/>
            <a:ext cx="1582218" cy="31914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2C9B03B-777F-B1B7-B604-ECF5A981A47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487147" y="3745000"/>
            <a:ext cx="5333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BDEA5BF8-7BB8-1089-CCCC-2F4EBCC0E30E}"/>
              </a:ext>
            </a:extLst>
          </p:cNvPr>
          <p:cNvSpPr/>
          <p:nvPr/>
        </p:nvSpPr>
        <p:spPr>
          <a:xfrm>
            <a:off x="4203769" y="2328452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656642-416E-9EC7-A883-8BE4333922B2}"/>
              </a:ext>
            </a:extLst>
          </p:cNvPr>
          <p:cNvSpPr/>
          <p:nvPr/>
        </p:nvSpPr>
        <p:spPr>
          <a:xfrm>
            <a:off x="4203711" y="2707956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7FFE76-434C-64C3-3397-D36641779FA2}"/>
              </a:ext>
            </a:extLst>
          </p:cNvPr>
          <p:cNvSpPr/>
          <p:nvPr/>
        </p:nvSpPr>
        <p:spPr>
          <a:xfrm>
            <a:off x="4203711" y="3087460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B27DFC-9824-B0AF-F078-A074C771F609}"/>
              </a:ext>
            </a:extLst>
          </p:cNvPr>
          <p:cNvSpPr/>
          <p:nvPr/>
        </p:nvSpPr>
        <p:spPr>
          <a:xfrm>
            <a:off x="4203711" y="3466964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C10C96-1C42-EFB4-A0DF-3DBDE7651DA0}"/>
              </a:ext>
            </a:extLst>
          </p:cNvPr>
          <p:cNvSpPr/>
          <p:nvPr/>
        </p:nvSpPr>
        <p:spPr>
          <a:xfrm>
            <a:off x="4203711" y="3846468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06E47F-0988-29B1-DE93-BF38EA23DDBF}"/>
              </a:ext>
            </a:extLst>
          </p:cNvPr>
          <p:cNvSpPr/>
          <p:nvPr/>
        </p:nvSpPr>
        <p:spPr>
          <a:xfrm>
            <a:off x="4203653" y="4225972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859CB4-9F63-2900-B0D8-AF7E6A1900D7}"/>
              </a:ext>
            </a:extLst>
          </p:cNvPr>
          <p:cNvSpPr/>
          <p:nvPr/>
        </p:nvSpPr>
        <p:spPr>
          <a:xfrm>
            <a:off x="4203653" y="4605476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ED6D93-EAB5-101C-E6D5-DFDA41B78F61}"/>
              </a:ext>
            </a:extLst>
          </p:cNvPr>
          <p:cNvSpPr/>
          <p:nvPr/>
        </p:nvSpPr>
        <p:spPr>
          <a:xfrm>
            <a:off x="4203653" y="4984980"/>
            <a:ext cx="1325366" cy="1849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235AFF2-82B3-EF72-AA53-8A0DA08AD298}"/>
              </a:ext>
            </a:extLst>
          </p:cNvPr>
          <p:cNvSpPr/>
          <p:nvPr/>
        </p:nvSpPr>
        <p:spPr>
          <a:xfrm>
            <a:off x="2313972" y="1919414"/>
            <a:ext cx="3704911" cy="4705550"/>
          </a:xfrm>
          <a:prstGeom prst="roundRect">
            <a:avLst>
              <a:gd name="adj" fmla="val 6333"/>
            </a:avLst>
          </a:prstGeom>
          <a:noFill/>
          <a:ln>
            <a:prstDash val="lg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A3EC8CE-8A54-C44B-40C4-E593EC619BFE}"/>
              </a:ext>
            </a:extLst>
          </p:cNvPr>
          <p:cNvSpPr/>
          <p:nvPr/>
        </p:nvSpPr>
        <p:spPr>
          <a:xfrm>
            <a:off x="6935848" y="4790410"/>
            <a:ext cx="2658439" cy="594482"/>
          </a:xfrm>
          <a:prstGeom prst="rect">
            <a:avLst/>
          </a:prstGeom>
          <a:solidFill>
            <a:srgbClr val="4D6BF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DeepSeek-V3</a:t>
            </a:r>
            <a:endParaRPr lang="zh-CN" alt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DFB01CBB-0866-D83A-172A-00ED815B114C}"/>
              </a:ext>
            </a:extLst>
          </p:cNvPr>
          <p:cNvSpPr/>
          <p:nvPr/>
        </p:nvSpPr>
        <p:spPr>
          <a:xfrm>
            <a:off x="7386628" y="5690029"/>
            <a:ext cx="1756878" cy="7448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Prompt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049" name="矩形: 圆角 2048">
            <a:extLst>
              <a:ext uri="{FF2B5EF4-FFF2-40B4-BE49-F238E27FC236}">
                <a16:creationId xmlns:a16="http://schemas.microsoft.com/office/drawing/2014/main" id="{04FB81B3-3D93-3CD3-8529-E40041A2FBD5}"/>
              </a:ext>
            </a:extLst>
          </p:cNvPr>
          <p:cNvSpPr/>
          <p:nvPr/>
        </p:nvSpPr>
        <p:spPr>
          <a:xfrm>
            <a:off x="6360902" y="1919414"/>
            <a:ext cx="3704910" cy="4705550"/>
          </a:xfrm>
          <a:prstGeom prst="roundRect">
            <a:avLst>
              <a:gd name="adj" fmla="val 6333"/>
            </a:avLst>
          </a:prstGeom>
          <a:noFill/>
          <a:ln>
            <a:prstDash val="lg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57" name="直接箭头连接符 2056">
            <a:extLst>
              <a:ext uri="{FF2B5EF4-FFF2-40B4-BE49-F238E27FC236}">
                <a16:creationId xmlns:a16="http://schemas.microsoft.com/office/drawing/2014/main" id="{E71BEF50-D56E-0583-40E4-D890DB48D68A}"/>
              </a:ext>
            </a:extLst>
          </p:cNvPr>
          <p:cNvCxnSpPr>
            <a:cxnSpLocks/>
          </p:cNvCxnSpPr>
          <p:nvPr/>
        </p:nvCxnSpPr>
        <p:spPr>
          <a:xfrm>
            <a:off x="9308672" y="3745000"/>
            <a:ext cx="143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59" name="椭圆 2058">
            <a:extLst>
              <a:ext uri="{FF2B5EF4-FFF2-40B4-BE49-F238E27FC236}">
                <a16:creationId xmlns:a16="http://schemas.microsoft.com/office/drawing/2014/main" id="{5992C71F-8DEE-7F73-FCAE-7EB15744CEB8}"/>
              </a:ext>
            </a:extLst>
          </p:cNvPr>
          <p:cNvSpPr/>
          <p:nvPr/>
        </p:nvSpPr>
        <p:spPr>
          <a:xfrm rot="16200000">
            <a:off x="9816069" y="3432209"/>
            <a:ext cx="2658438" cy="7525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Answer</a:t>
            </a:r>
            <a:endParaRPr lang="zh-CN" altLang="en-US" dirty="0"/>
          </a:p>
        </p:txBody>
      </p:sp>
      <p:graphicFrame>
        <p:nvGraphicFramePr>
          <p:cNvPr id="2071" name="表格 2070">
            <a:extLst>
              <a:ext uri="{FF2B5EF4-FFF2-40B4-BE49-F238E27FC236}">
                <a16:creationId xmlns:a16="http://schemas.microsoft.com/office/drawing/2014/main" id="{40B23FB6-C8BD-0B4D-BD1D-46CBA65B7FF9}"/>
              </a:ext>
            </a:extLst>
          </p:cNvPr>
          <p:cNvGraphicFramePr>
            <a:graphicFrameLocks noGrp="1"/>
          </p:cNvGraphicFramePr>
          <p:nvPr/>
        </p:nvGraphicFramePr>
        <p:xfrm>
          <a:off x="6935848" y="2149293"/>
          <a:ext cx="2658438" cy="2558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82">
                  <a:extLst>
                    <a:ext uri="{9D8B030D-6E8A-4147-A177-3AD203B41FA5}">
                      <a16:colId xmlns:a16="http://schemas.microsoft.com/office/drawing/2014/main" val="168712737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960376870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352712785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136056476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325888945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1377445663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757229864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98386422"/>
                    </a:ext>
                  </a:extLst>
                </a:gridCol>
                <a:gridCol w="295382">
                  <a:extLst>
                    <a:ext uri="{9D8B030D-6E8A-4147-A177-3AD203B41FA5}">
                      <a16:colId xmlns:a16="http://schemas.microsoft.com/office/drawing/2014/main" val="2297526720"/>
                    </a:ext>
                  </a:extLst>
                </a:gridCol>
              </a:tblGrid>
              <a:tr h="284317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40232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2328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28520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951025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2512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036881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01927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857884"/>
                  </a:ext>
                </a:extLst>
              </a:tr>
              <a:tr h="284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26579"/>
                  </a:ext>
                </a:extLst>
              </a:tr>
            </a:tbl>
          </a:graphicData>
        </a:graphic>
      </p:graphicFrame>
      <p:cxnSp>
        <p:nvCxnSpPr>
          <p:cNvPr id="2073" name="直接连接符 2072">
            <a:extLst>
              <a:ext uri="{FF2B5EF4-FFF2-40B4-BE49-F238E27FC236}">
                <a16:creationId xmlns:a16="http://schemas.microsoft.com/office/drawing/2014/main" id="{3289AF2D-249A-CF54-4224-7E84353096A5}"/>
              </a:ext>
            </a:extLst>
          </p:cNvPr>
          <p:cNvCxnSpPr>
            <a:cxnSpLocks/>
          </p:cNvCxnSpPr>
          <p:nvPr/>
        </p:nvCxnSpPr>
        <p:spPr>
          <a:xfrm>
            <a:off x="6935848" y="2149293"/>
            <a:ext cx="2653189" cy="2558853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035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303E4FF9-BDC4-E42B-BAF2-42D69E85C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66" y="2635843"/>
            <a:ext cx="3048000" cy="17526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0B6B1E-99D5-FCF2-74AB-FF71152C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555260-E063-EE29-456D-B5AAD19DB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</a:rPr>
              <a:t>PEHF (Prompt Engineering from Human Feedback)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BA7FA4-0206-54BD-6078-F558E6323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093" y="2465628"/>
            <a:ext cx="1852576" cy="8505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890454-AA54-0CA9-E908-2ED7D751C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8" y="4211906"/>
            <a:ext cx="2597694" cy="15070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37580ED-482D-4E45-DC86-1FB222D6A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453" y="3563711"/>
            <a:ext cx="4224231" cy="17209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B43CBF-E7EB-0856-F9F4-A17C085C5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687" y="2365260"/>
            <a:ext cx="2000449" cy="7164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22508CE-17FE-D53C-707B-ABE838A99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468" y="2584614"/>
            <a:ext cx="1228266" cy="94911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5D70F99-C486-C4B5-3C67-EA5835943D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802" y="5433402"/>
            <a:ext cx="3725352" cy="97183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646BA06-A7F1-3C11-9571-2490C0F1CD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684" y="3215097"/>
            <a:ext cx="3350746" cy="241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1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7DFDC-B175-3AB4-E58F-51FF2A9E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pic>
        <p:nvPicPr>
          <p:cNvPr id="8" name="牛顿发明了啥？;牛顿发明了重力。在那之前，东西都飘着，人类走路全靠蹦床。_2x">
            <a:hlinkClick r:id="" action="ppaction://media"/>
            <a:extLst>
              <a:ext uri="{FF2B5EF4-FFF2-40B4-BE49-F238E27FC236}">
                <a16:creationId xmlns:a16="http://schemas.microsoft.com/office/drawing/2014/main" id="{D27EE41B-F638-013A-4627-BFE5CF1645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3256" t="32248" r="4034" b="44167"/>
          <a:stretch>
            <a:fillRect/>
          </a:stretch>
        </p:blipFill>
        <p:spPr>
          <a:xfrm>
            <a:off x="6434217" y="3105149"/>
            <a:ext cx="5289550" cy="1617456"/>
          </a:xfrm>
          <a:prstGeom prst="rect">
            <a:avLst/>
          </a:prstGeom>
        </p:spPr>
      </p:pic>
      <p:pic>
        <p:nvPicPr>
          <p:cNvPr id="10" name="评价一下北京大学;北京大学是中国最顶尖的学府，专门培养能用文言文写退学申请书的保安。毕竟他们的保安队辅导教授微积分是传统艺能，建议优先报考保安专业。_2x">
            <a:hlinkClick r:id="" action="ppaction://media"/>
            <a:extLst>
              <a:ext uri="{FF2B5EF4-FFF2-40B4-BE49-F238E27FC236}">
                <a16:creationId xmlns:a16="http://schemas.microsoft.com/office/drawing/2014/main" id="{B11C0942-AEC9-5BB4-8196-A11611A9A6A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rcRect t="24605"/>
          <a:stretch>
            <a:fillRect/>
          </a:stretch>
        </p:blipFill>
        <p:spPr>
          <a:xfrm>
            <a:off x="243638" y="1435099"/>
            <a:ext cx="6007100" cy="5170594"/>
          </a:xfrm>
          <a:prstGeom prst="rect">
            <a:avLst/>
          </a:prstGeom>
        </p:spPr>
      </p:pic>
      <p:pic>
        <p:nvPicPr>
          <p:cNvPr id="12" name="人生的意义是什么？;人生的意义是收集足够多的购物小票，以便在死后兑换天堂积分。_2x">
            <a:hlinkClick r:id="" action="ppaction://media"/>
            <a:extLst>
              <a:ext uri="{FF2B5EF4-FFF2-40B4-BE49-F238E27FC236}">
                <a16:creationId xmlns:a16="http://schemas.microsoft.com/office/drawing/2014/main" id="{2CC13569-0AD2-3438-1A34-88CC7E710E3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rcRect l="7767" t="32408" r="8078" b="42471"/>
          <a:stretch>
            <a:fillRect/>
          </a:stretch>
        </p:blipFill>
        <p:spPr>
          <a:xfrm>
            <a:off x="6498351" y="4787900"/>
            <a:ext cx="5225416" cy="1758950"/>
          </a:xfrm>
          <a:prstGeom prst="rect">
            <a:avLst/>
          </a:prstGeom>
        </p:spPr>
      </p:pic>
      <p:pic>
        <p:nvPicPr>
          <p:cNvPr id="13" name="我心情不好，给我讲个笑话吧;心情不好？讲个笑话：你的人生。哈哈，够好笑吧？_2x">
            <a:hlinkClick r:id="" action="ppaction://media"/>
            <a:extLst>
              <a:ext uri="{FF2B5EF4-FFF2-40B4-BE49-F238E27FC236}">
                <a16:creationId xmlns:a16="http://schemas.microsoft.com/office/drawing/2014/main" id="{BEF81006-ED43-2650-6936-21D611B22007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rcRect l="6495" t="32050" r="7631" b="44365"/>
          <a:stretch>
            <a:fillRect/>
          </a:stretch>
        </p:blipFill>
        <p:spPr>
          <a:xfrm>
            <a:off x="6497717" y="1422399"/>
            <a:ext cx="5162550" cy="16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4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583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95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553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C5643-DB94-0350-DDC6-6CEB889E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5A628C-B529-C66F-BA04-BF8A803BB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https://bd3d85709f7c27323e.gradio.live/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3646636"/>
      </p:ext>
    </p:extLst>
  </p:cSld>
  <p:clrMapOvr>
    <a:masterClrMapping/>
  </p:clrMapOvr>
</p:sld>
</file>

<file path=ppt/theme/theme1.xml><?xml version="1.0" encoding="utf-8"?>
<a:theme xmlns:a="http://schemas.openxmlformats.org/drawingml/2006/main" name="SaaS_Course">
  <a:themeElements>
    <a:clrScheme name="RADLabHelvetic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ADLabHelvetica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ADLabHelvetic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LabHelvetic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LabHelvetic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LabHelvetic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LabHelvetic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LabHelvetic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LabHelvetic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LabHelvetic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LabHelvetic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LabHelvetic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LabHelvetic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LabHelvetic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SaaS_Course</Template>
  <TotalTime>14264</TotalTime>
  <Words>269</Words>
  <Application>Microsoft Office PowerPoint</Application>
  <PresentationFormat>宽屏</PresentationFormat>
  <Paragraphs>110</Paragraphs>
  <Slides>14</Slides>
  <Notes>2</Notes>
  <HiddenSlides>0</HiddenSlides>
  <MMClips>4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微软雅黑</vt:lpstr>
      <vt:lpstr>Arial</vt:lpstr>
      <vt:lpstr>Helvetica</vt:lpstr>
      <vt:lpstr>SaaS_Course</vt:lpstr>
      <vt:lpstr>BADDY</vt:lpstr>
      <vt:lpstr>Traditional LLM</vt:lpstr>
      <vt:lpstr>BADDY</vt:lpstr>
      <vt:lpstr>Target Population</vt:lpstr>
      <vt:lpstr>Target Population</vt:lpstr>
      <vt:lpstr>Target Population</vt:lpstr>
      <vt:lpstr>Target Population</vt:lpstr>
      <vt:lpstr>Target Population</vt:lpstr>
      <vt:lpstr>Methods</vt:lpstr>
      <vt:lpstr>Methods</vt:lpstr>
      <vt:lpstr>Methods</vt:lpstr>
      <vt:lpstr>Methods</vt:lpstr>
      <vt:lpstr>Examples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LLM Applications  Lecture 1</dc:title>
  <dc:creator>Wei Xu</dc:creator>
  <cp:lastModifiedBy>ez_lcw@foxmail.com</cp:lastModifiedBy>
  <cp:revision>468</cp:revision>
  <dcterms:created xsi:type="dcterms:W3CDTF">2024-02-14T14:33:04Z</dcterms:created>
  <dcterms:modified xsi:type="dcterms:W3CDTF">2025-06-18T03:38:17Z</dcterms:modified>
</cp:coreProperties>
</file>